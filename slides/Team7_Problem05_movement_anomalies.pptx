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137160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144" y="1371600"/>
            <a:ext cx="201168" cy="201168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63040" y="1371600"/>
            <a:ext cx="201168" cy="20116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73936" y="1371600"/>
            <a:ext cx="201168" cy="201168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881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Detecting unusual changes</a:t>
            </a:r>
          </a:p>
          <a:p>
            <a:pPr algn="l">
              <a:lnSpc>
                <a:spcPct val="104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in movement around the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85A2E"/>
                </a:solidFill>
                <a:latin typeface="Calibri"/>
              </a:rPr>
              <a:t>Problem 05</a:t>
            </a:r>
            <a:r>
              <a:rPr sz="2000" b="0" i="0">
                <a:solidFill>
                  <a:srgbClr val="B7C4D1"/>
                </a:solidFill>
                <a:latin typeface="Calibri"/>
              </a:rPr>
              <a:t>    Impact Lab Wellington  ·  Team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7C4D1"/>
                </a:solidFill>
                <a:latin typeface="Calibri"/>
              </a:rPr>
              <a:t>One working prototype — a single map of </a:t>
            </a:r>
            <a:r>
              <a:rPr sz="1600" b="0" i="1">
                <a:solidFill>
                  <a:srgbClr val="FFFFFF"/>
                </a:solidFill>
                <a:latin typeface="Calibri"/>
              </a:rPr>
              <a:t>corroborated</a:t>
            </a:r>
            <a:r>
              <a:rPr sz="1600" b="0" i="0">
                <a:solidFill>
                  <a:srgbClr val="B7C4D1"/>
                </a:solidFill>
                <a:latin typeface="Calibri"/>
              </a:rPr>
              <a:t> movement signals, fed by four 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2179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9FB0"/>
                </a:solidFill>
                <a:latin typeface="Calibri"/>
              </a:rPr>
              <a:t>WCC Emergency Management × Claude Code Community NZ   ·   8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3A5B"/>
                </a:solidFill>
                <a:latin typeface="Cambria"/>
              </a:rPr>
              <a:t>The problem, and who feels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5852160" cy="19659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37360"/>
            <a:ext cx="525780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1">
                <a:solidFill>
                  <a:srgbClr val="1A2733"/>
                </a:solidFill>
                <a:latin typeface="Calibri"/>
              </a:rPr>
              <a:t>“How might we identify and map sudden changes in pedestrian or vehicle movement that could indicate disruption, unsafe conditions, evacuation or loss of access?”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0" i="0">
                <a:solidFill>
                  <a:srgbClr val="1A2733"/>
                </a:solidFill>
                <a:latin typeface="Calibri"/>
              </a:rPr>
              <a:t>Today the Council leans on individual reports — slow, patchy, one voice at a time.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A2733"/>
                </a:solidFill>
                <a:latin typeface="Calibri"/>
              </a:rPr>
              <a:t>We add an </a:t>
            </a:r>
            <a:r>
              <a:rPr sz="1500" b="1" i="0">
                <a:solidFill>
                  <a:srgbClr val="C85A2E"/>
                </a:solidFill>
                <a:latin typeface="Calibri"/>
              </a:rPr>
              <a:t>early, corroborated</a:t>
            </a:r>
            <a:r>
              <a:rPr sz="1500" b="0" i="0">
                <a:solidFill>
                  <a:srgbClr val="1A2733"/>
                </a:solidFill>
                <a:latin typeface="Calibri"/>
              </a:rPr>
              <a:t> signal of where movement has changed — before the phones start ringing.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554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3A5B"/>
                </a:solidFill>
                <a:latin typeface="Cambria"/>
              </a:rPr>
              <a:t>Who feels it</a:t>
            </a:r>
          </a:p>
        </p:txBody>
      </p:sp>
      <p:sp>
        <p:nvSpPr>
          <p:cNvPr id="7" name="Oval 6"/>
          <p:cNvSpPr/>
          <p:nvPr/>
        </p:nvSpPr>
        <p:spPr>
          <a:xfrm>
            <a:off x="7132320" y="2258568"/>
            <a:ext cx="310896" cy="31089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219456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A2733"/>
                </a:solidFill>
                <a:latin typeface="Calibri"/>
              </a:rPr>
              <a:t>EM duty officers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B7A"/>
                </a:solidFill>
                <a:latin typeface="Calibri"/>
              </a:rPr>
              <a:t>triaging a fast-moving event on thin information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3401568"/>
            <a:ext cx="310896" cy="310896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33756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A2733"/>
                </a:solidFill>
                <a:latin typeface="Calibri"/>
              </a:rPr>
              <a:t>Communities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B7A"/>
                </a:solidFill>
                <a:latin typeface="Calibri"/>
              </a:rPr>
              <a:t>in disruption, evacuation, or loss of access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4544568"/>
            <a:ext cx="310896" cy="310896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48056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1A2733"/>
                </a:solidFill>
                <a:latin typeface="Calibri"/>
              </a:rPr>
              <a:t>The shared operating picture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B7A"/>
                </a:solidFill>
                <a:latin typeface="Calibri"/>
              </a:rPr>
              <a:t>ten team prototypes feeding one live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3A5B"/>
                </a:solidFill>
                <a:latin typeface="Cambria"/>
              </a:rPr>
              <a:t>Four movement sources, one grain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0876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" y="1828800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19072" y="181965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1A2733"/>
                </a:solidFill>
                <a:latin typeface="Cambria"/>
              </a:rPr>
              <a:t>WCC transport sensors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Hourly pedestrian &amp; vehicle counts at 400+ countlines.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461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34.7M ROWS  ·  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9088" y="150876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39127" y="1828800"/>
            <a:ext cx="384048" cy="384048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81965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1A2733"/>
                </a:solidFill>
                <a:latin typeface="Cambria"/>
              </a:rPr>
              <a:t>Metlink public transport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46888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Bus, train &amp; ferry — 9 robust detectors over an April timetable replay.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2461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  <a:latin typeface="Calibri"/>
              </a:rPr>
              <a:t>9 DETECTORS  ·  SYNTHETIC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3192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4251959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424281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1A2733"/>
                </a:solidFill>
                <a:latin typeface="Cambria"/>
              </a:rPr>
              <a:t>NZTA state highways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9204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TMS daily counts, de-duplicated and expanded to hourly.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669279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alibri"/>
              </a:rPr>
              <a:t>119 SITES  ·  REAL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393192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39127" y="4251959"/>
            <a:ext cx="384048" cy="384048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424281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1A2733"/>
                </a:solidFill>
                <a:latin typeface="Cambria"/>
              </a:rPr>
              <a:t>Wellington Airport flights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489204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Arrivals + departures combined into total movements per hour.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5669279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  <a:latin typeface="Calibri"/>
              </a:rPr>
              <a:t>5,492 MOVEMENTS  · 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B7A"/>
                </a:solidFill>
                <a:latin typeface="Calibri"/>
              </a:rPr>
              <a:t>All conformed to the same ~1 km cell × hour grain, so anomalies from different sources line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3A5B"/>
                </a:solidFill>
                <a:latin typeface="Cambria"/>
              </a:rPr>
              <a:t>How it works — raw → anomaly → conformed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2615184" cy="2331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965960"/>
            <a:ext cx="548640" cy="548640"/>
          </a:xfrm>
          <a:prstGeom prst="ellipse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2996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0665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85A2E"/>
                </a:solidFill>
                <a:latin typeface="Cambria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81528"/>
            <a:ext cx="2112263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B7A"/>
                </a:solidFill>
                <a:latin typeface="Calibri"/>
              </a:rPr>
              <a:t>Every source lands in local DuckDB — one file, no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0712" y="2560320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5DCE2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9" y="1691640"/>
            <a:ext cx="2615184" cy="2331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31920" y="1965960"/>
            <a:ext cx="548640" cy="548640"/>
          </a:xfrm>
          <a:prstGeom prst="ellipse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02996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51760"/>
            <a:ext cx="20665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85A2E"/>
                </a:solidFill>
                <a:latin typeface="Cambria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081528"/>
            <a:ext cx="2112263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B7A"/>
                </a:solidFill>
                <a:latin typeface="Calibri"/>
              </a:rPr>
              <a:t>Robust median / MAD z-score vs each entity's usual level for that hour and day 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1" y="2560320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5DCE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691640"/>
            <a:ext cx="2615184" cy="2331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59" y="1965960"/>
            <a:ext cx="548640" cy="548640"/>
          </a:xfrm>
          <a:prstGeom prst="ellipse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59" y="202996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2651760"/>
            <a:ext cx="20665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85A2E"/>
                </a:solidFill>
                <a:latin typeface="Cambria"/>
              </a:rPr>
              <a:t>Conform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3081528"/>
            <a:ext cx="2112263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B7A"/>
                </a:solidFill>
                <a:latin typeface="Calibri"/>
              </a:rPr>
              <a:t>Roll up to ~1 km cell × hour; count how many sources agree.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560320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5DCE2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691640"/>
            <a:ext cx="2615184" cy="2331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1965960"/>
            <a:ext cx="548640" cy="548640"/>
          </a:xfrm>
          <a:prstGeom prst="ellipse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02996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51760"/>
            <a:ext cx="20665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85A2E"/>
                </a:solidFill>
                <a:latin typeface="Cambria"/>
              </a:rPr>
              <a:t>See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81528"/>
            <a:ext cx="2112263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B7A"/>
                </a:solidFill>
                <a:latin typeface="Calibri"/>
              </a:rPr>
              <a:t>Streamlit + pydeck: multi-layer map, corroboration slider, hourly playback.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389120"/>
            <a:ext cx="6675120" cy="182880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590288"/>
            <a:ext cx="6263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3A5B"/>
                </a:solidFill>
                <a:latin typeface="Calibri"/>
              </a:rPr>
              <a:t>Technical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074920"/>
            <a:ext cx="6263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A2733"/>
                </a:solidFill>
                <a:latin typeface="Calibri"/>
              </a:rPr>
              <a:t>DuckDB</a:t>
            </a:r>
            <a:r>
              <a:rPr sz="1350" b="0" i="0">
                <a:solidFill>
                  <a:srgbClr val="5B6B7A"/>
                </a:solidFill>
                <a:latin typeface="Calibri"/>
              </a:rPr>
              <a:t>  ·  Python  ·  robust statistics  ·  Streamlit  ·  pydeck  ·  CartoDB basemaps</a:t>
            </a:r>
          </a:p>
          <a:p>
            <a:pPr algn="l"/>
            <a:r>
              <a:rPr sz="1300" b="1" i="0">
                <a:solidFill>
                  <a:srgbClr val="1A2733"/>
                </a:solidFill>
                <a:latin typeface="Calibri"/>
              </a:rPr>
              <a:t>Data:  </a:t>
            </a:r>
            <a:r>
              <a:rPr sz="1300" b="0" i="0">
                <a:solidFill>
                  <a:srgbClr val="5B6B7A"/>
                </a:solidFill>
                <a:latin typeface="Calibri"/>
              </a:rPr>
              <a:t>WCC Open Data  ·  Metlink GTFS  ·  NZTA TMS  ·  OpenSky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4389120"/>
            <a:ext cx="3685032" cy="1828800"/>
          </a:xfrm>
          <a:prstGeom prst="roundRect">
            <a:avLst>
              <a:gd name="adj" fmla="val 5000"/>
            </a:avLst>
          </a:prstGeom>
          <a:solidFill>
            <a:srgbClr val="1B3A5B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4572000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Cambria"/>
              </a:rPr>
              <a:t>Built with Claude Code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B7C4D1"/>
                </a:solidFill>
                <a:latin typeface="Calibri"/>
              </a:rPr>
              <a:t>Data engineering, the anomaly SQL and five Streamlit apps — generated and verified in one working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3A5B"/>
                </a:solidFill>
                <a:latin typeface="Cambria"/>
              </a:rPr>
              <a:t>The result — corroborated anomalies</a:t>
            </a:r>
          </a:p>
        </p:txBody>
      </p:sp>
      <p:pic>
        <p:nvPicPr>
          <p:cNvPr id="3" name="Picture 2" descr="combine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4937760" cy="40298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06440" y="1280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3A5B"/>
                </a:solidFill>
                <a:latin typeface="Calibri"/>
              </a:rPr>
              <a:t>Corroboration = confidence</a:t>
            </a:r>
          </a:p>
        </p:txBody>
      </p:sp>
      <p:pic>
        <p:nvPicPr>
          <p:cNvPr id="5" name="Picture 4" descr="corrobo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91640"/>
            <a:ext cx="5943600" cy="3105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489204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5B6B7A"/>
                </a:solidFill>
                <a:latin typeface="Calibri"/>
              </a:rPr>
              <a:t>More than one source flagging the same place &amp; hour is a stronger signal to investigate.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32120"/>
            <a:ext cx="3566160" cy="96012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6692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 i="0">
                <a:solidFill>
                  <a:srgbClr val="C85A2E"/>
                </a:solidFill>
                <a:latin typeface="Cambria"/>
              </a:rPr>
              <a:t>78,343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2733"/>
                </a:solidFill>
                <a:latin typeface="Calibri"/>
              </a:rPr>
              <a:t>MEDIUM+ anomaly records unified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5532120"/>
            <a:ext cx="3566160" cy="96012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56692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 i="0">
                <a:solidFill>
                  <a:srgbClr val="C85A2E"/>
                </a:solidFill>
                <a:latin typeface="Cambria"/>
              </a:rPr>
              <a:t>599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2733"/>
                </a:solidFill>
                <a:latin typeface="Calibri"/>
              </a:rPr>
              <a:t>cell-hours with ≥ 2 sources agreeing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5532120"/>
            <a:ext cx="3566160" cy="96012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90000" dist="30000" dir="5400000" rotWithShape="0">
              <a:srgbClr val="1A2733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56692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 i="0">
                <a:solidFill>
                  <a:srgbClr val="C85A2E"/>
                </a:solidFill>
                <a:latin typeface="Cambria"/>
              </a:rPr>
              <a:t>13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2733"/>
                </a:solidFill>
                <a:latin typeface="Calibri"/>
              </a:rPr>
              <a:t>cell-hours where 3 sources agree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3A5B"/>
                </a:solidFill>
                <a:latin typeface="Cambria"/>
              </a:rPr>
              <a:t>Play it back over the disruption window</a:t>
            </a:r>
          </a:p>
        </p:txBody>
      </p:sp>
      <p:pic>
        <p:nvPicPr>
          <p:cNvPr id="3" name="Picture 2" descr="film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881360" cy="46426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05675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733"/>
                </a:solidFill>
                <a:latin typeface="Calibri"/>
              </a:rPr>
              <a:t>The Playback tab animates every hour from 19 Apr 13:00 → 23 Apr 13:00.  </a:t>
            </a:r>
            <a:r>
              <a:rPr sz="1400" b="1" i="0">
                <a:solidFill>
                  <a:srgbClr val="C85A2E"/>
                </a:solidFill>
                <a:latin typeface="Calibri"/>
              </a:rPr>
              <a:t>The 20–21 April drop shows across road, PT and flights at once.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3A5B"/>
                </a:solidFill>
                <a:latin typeface="Cambria"/>
              </a:rPr>
              <a:t>What WCC could do next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1783080"/>
            <a:ext cx="310896" cy="31089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19072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2733"/>
                </a:solidFill>
                <a:latin typeface="Cambria"/>
              </a:rPr>
              <a:t>Feed the common operating picture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Publish corroborated cells as GeoJSON into the shared live map.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843783"/>
            <a:ext cx="310896" cy="310896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79775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2733"/>
                </a:solidFill>
                <a:latin typeface="Cambria"/>
              </a:rPr>
              <a:t>Alert on agreement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Notify duty officers when ≥ 2 sources flag the same cell and hour.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904487"/>
            <a:ext cx="310896" cy="31089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2733"/>
                </a:solidFill>
                <a:latin typeface="Cambria"/>
              </a:rPr>
              <a:t>Go live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Swap replays for live feeds — GTFS-Realtime and camera capture are already prototyped.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965192"/>
            <a:ext cx="310896" cy="310896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901184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A2733"/>
                </a:solidFill>
                <a:latin typeface="Cambria"/>
              </a:rPr>
              <a:t>Deepen the baseline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Move beyond one month; keep synthetic vs real clearly labelled.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881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One map. Four sources.</a:t>
            </a:r>
          </a:p>
          <a:p>
            <a:pPr algn="l">
              <a:lnSpc>
                <a:spcPct val="106000"/>
              </a:lnSpc>
            </a:pPr>
            <a:r>
              <a:rPr sz="3800" b="1" i="0">
                <a:solidFill>
                  <a:srgbClr val="C85A2E"/>
                </a:solidFill>
                <a:latin typeface="Cambria"/>
              </a:rPr>
              <a:t>Signals where they agree.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0690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7C4D1"/>
                </a:solidFill>
                <a:latin typeface="Calibri"/>
              </a:rPr>
              <a:t>Signals mean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investigate</a:t>
            </a:r>
            <a:r>
              <a:rPr sz="1600" b="0" i="0">
                <a:solidFill>
                  <a:srgbClr val="B7C4D1"/>
                </a:solidFill>
                <a:latin typeface="Calibri"/>
              </a:rPr>
              <a:t>, not confirmed events. Synthetic layers are labelled. In an emergency, 111.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512064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2144" y="5120640"/>
            <a:ext cx="201168" cy="201168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5120640"/>
            <a:ext cx="201168" cy="20116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73936" y="5120640"/>
            <a:ext cx="201168" cy="201168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172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9FB0"/>
                </a:solidFill>
                <a:latin typeface="Calibri"/>
              </a:rPr>
              <a:t>Team 7  ·  Problem 05  ·  data © WCC / Metlink-GWRC / NZTA Waka Kotahi / OpenSky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